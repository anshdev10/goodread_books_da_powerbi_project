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Books Written</c:v>
                </c:pt>
              </c:strCache>
            </c:strRef>
          </c:tx>
          <c:spPr>
            <a:solidFill>
              <a:srgbClr val="1B4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F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F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F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R.L. Stine</c:v>
                  </c:pt>
                  <c:pt idx="1">
                    <c:v>J.R.R. Tolkien</c:v>
                  </c:pt>
                  <c:pt idx="2">
                    <c:v>Anonymous</c:v>
                  </c:pt>
                  <c:pt idx="3">
                    <c:v>Stephen King</c:v>
                  </c:pt>
                  <c:pt idx="4">
                    <c:v>William Shakespeare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153</c:v>
                </c:pt>
                <c:pt idx="1">
                  <c:v>161</c:v>
                </c:pt>
                <c:pt idx="2">
                  <c:v>208</c:v>
                </c:pt>
                <c:pt idx="3">
                  <c:v>230</c:v>
                </c:pt>
                <c:pt idx="4">
                  <c:v>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4F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2545"/>
        </a:solidFill>
        <a:ln>
          <a:noFill/>
        </a:ln>
        <a:effectLst/>
      </c:spPr>
    </c:plotArea>
    <c:plotVisOnly val="1"/>
    <c:dispBlanksAs val="span"/>
  </c:chart>
  <c:spPr>
    <a:solidFill>
      <a:srgbClr val="0B254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Books Published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2002</c:v>
                  </c:pt>
                  <c:pt idx="1">
                    <c:v>2003</c:v>
                  </c:pt>
                  <c:pt idx="2">
                    <c:v>2004</c:v>
                  </c:pt>
                  <c:pt idx="3">
                    <c:v>2005</c:v>
                  </c:pt>
                  <c:pt idx="4">
                    <c:v>2006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3800</c:v>
                </c:pt>
                <c:pt idx="1">
                  <c:v>4200</c:v>
                </c:pt>
                <c:pt idx="2">
                  <c:v>4500</c:v>
                </c:pt>
                <c:pt idx="3">
                  <c:v>4700</c:v>
                </c:pt>
                <c:pt idx="4">
                  <c:v>5100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Books Published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June</c:v>
                  </c:pt>
                  <c:pt idx="1">
                    <c:v>April</c:v>
                  </c:pt>
                  <c:pt idx="2">
                    <c:v>September</c:v>
                  </c:pt>
                  <c:pt idx="3">
                    <c:v>October</c:v>
                  </c:pt>
                  <c:pt idx="4">
                    <c:v>January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4000</c:v>
                </c:pt>
                <c:pt idx="1">
                  <c:v>4000</c:v>
                </c:pt>
                <c:pt idx="2">
                  <c:v>5000</c:v>
                </c:pt>
                <c:pt idx="3">
                  <c:v>5000</c:v>
                </c:pt>
                <c:pt idx="4">
                  <c:v>48000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D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Ratings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Agatha Christie</c:v>
                  </c:pt>
                  <c:pt idx="1">
                    <c:v>Anonymous</c:v>
                  </c:pt>
                  <c:pt idx="2">
                    <c:v>R.L. Stine</c:v>
                  </c:pt>
                  <c:pt idx="3">
                    <c:v>Stephen King</c:v>
                  </c:pt>
                  <c:pt idx="4">
                    <c:v>William Shakespeare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</c:v>
                </c:pt>
                <c:pt idx="1">
                  <c:v>150</c:v>
                </c:pt>
                <c:pt idx="2">
                  <c:v>135</c:v>
                </c:pt>
                <c:pt idx="3">
                  <c:v>145</c:v>
                </c:pt>
                <c:pt idx="4">
                  <c:v>175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Count of Reviews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Agatha Christie</c:v>
                  </c:pt>
                  <c:pt idx="1">
                    <c:v>Anonymous</c:v>
                  </c:pt>
                  <c:pt idx="2">
                    <c:v>R.L. Stine</c:v>
                  </c:pt>
                  <c:pt idx="3">
                    <c:v>Stephen King</c:v>
                  </c:pt>
                  <c:pt idx="4">
                    <c:v>William Shakespeare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105</c:v>
                </c:pt>
                <c:pt idx="2">
                  <c:v>108</c:v>
                </c:pt>
                <c:pt idx="3">
                  <c:v>115</c:v>
                </c:pt>
                <c:pt idx="4">
                  <c:v>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4F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254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25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114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20040" y="10058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2004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Publishing Trends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Author Insights with Power BI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4005072"/>
            <a:ext cx="2286000" cy="438912"/>
          </a:xfrm>
          <a:prstGeom prst="rect">
            <a:avLst/>
          </a:prstGeom>
          <a:solidFill>
            <a:srgbClr val="2196F3">
              <a:alpha val="85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0050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89,340 Books  •  39.6K Authors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40480" y="914400"/>
            <a:ext cx="5029200" cy="1005840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1556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1024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6344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CSV Dataset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840480" y="2148840"/>
            <a:ext cx="5029200" cy="1005840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35000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2258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66344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840480" y="3383280"/>
            <a:ext cx="5029200" cy="1005840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58444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63440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66344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Book &amp; Publishing Analysis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F3">
              <a:alpha val="30000"/>
            </a:srgbClr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4320" y="480974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|  Power BI  |  DAX  |  Power Query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960120"/>
          </a:xfrm>
          <a:prstGeom prst="rect">
            <a:avLst/>
          </a:prstGeom>
          <a:solidFill>
            <a:srgbClr val="E8F1FB"/>
          </a:solidFill>
          <a:ln w="1270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8046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project analyzes 89,340 books from GoodReads. It identifies trends around author productivity, reader engagement (ratings &amp; reviews), publication timelines, and genre patterns — delivered through an interactive, filterable single-page dashboard built entirely in Power BI Desktop.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1965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51760"/>
            <a:ext cx="196596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71576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54787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&amp; Book Performance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87168" y="2651760"/>
            <a:ext cx="1965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2651760"/>
            <a:ext cx="19659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7157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78608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78608" y="354787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Trends by Year &amp; Month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08576" y="2651760"/>
            <a:ext cx="1965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08576" y="2651760"/>
            <a:ext cx="1965960" cy="4114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71576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700016" y="354787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 Engagement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29984" y="2651760"/>
            <a:ext cx="1965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29984" y="2651760"/>
            <a:ext cx="196596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27157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21424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21424" y="354787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Authors &amp; Patterns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Books — Raw Data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444752"/>
            <a:ext cx="1554480" cy="169164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1752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89,340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01752" y="2633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93392" y="1444752"/>
            <a:ext cx="1554480" cy="169164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600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39112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39,669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039112" y="2633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Authors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730752" y="1444752"/>
            <a:ext cx="1554480" cy="169164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600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76472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776472" y="2633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68112" y="1444752"/>
            <a:ext cx="1554480" cy="169164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6002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13832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5513832" y="2633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Tags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205472" y="1444752"/>
            <a:ext cx="1554480" cy="169164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6002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51192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7251192" y="2633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Scale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 in the CSV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256032" y="3730752"/>
            <a:ext cx="1554480" cy="292608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56032" y="3730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993392" y="3730752"/>
            <a:ext cx="1554480" cy="292608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993392" y="3730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730752" y="3730752"/>
            <a:ext cx="1554480" cy="292608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730752" y="3730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468112" y="3730752"/>
            <a:ext cx="1554480" cy="292608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468112" y="3730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rat_rev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205472" y="3730752"/>
            <a:ext cx="1554480" cy="292608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205472" y="3730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256032" y="4096512"/>
            <a:ext cx="1554480" cy="292608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56032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1993392" y="4096512"/>
            <a:ext cx="1554480" cy="292608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993392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author_detail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730752" y="4096512"/>
            <a:ext cx="1554480" cy="292608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3730752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468112" y="4096512"/>
            <a:ext cx="1554480" cy="292608"/>
          </a:xfrm>
          <a:prstGeom prst="rect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468112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7205472" y="4096512"/>
            <a:ext cx="1554480" cy="292608"/>
          </a:xfrm>
          <a:prstGeom prst="rect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205472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author_link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320040" y="4864608"/>
            <a:ext cx="146304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21208" y="48371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as-is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2057400" y="4864608"/>
            <a:ext cx="14630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2258568" y="48371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3794760" y="4864608"/>
            <a:ext cx="146304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3995928" y="48371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Cleaning &amp; Feature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75488" cy="10789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3258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Dropped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69164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desc and author_link — no analytical value, reduced model size.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68880"/>
            <a:ext cx="475488" cy="10789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68880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" y="25603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Ratings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" y="29260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rat_rev string → extracted integer rating count (e.g., 26,044).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03320"/>
            <a:ext cx="475488" cy="10789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03320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37947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Reviews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416052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same rat_rev field → extracted integer review count (e.g., 648).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475488" cy="10789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34440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1808" y="13258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Count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169164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page list-string → extracted leading integer page number.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4688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68880"/>
            <a:ext cx="475488" cy="10789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68880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21808" y="25603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Year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21808" y="29260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year list-string → extracted 4-digit year (e.g., 2006).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03320"/>
            <a:ext cx="475488" cy="10789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03320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21808" y="37947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Month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416052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same year field → extracted month name for monthly trend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Custom Measures Powering the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206240" cy="822960"/>
          </a:xfrm>
          <a:prstGeom prst="rect">
            <a:avLst/>
          </a:prstGeom>
          <a:solidFill>
            <a:srgbClr val="1B4F8A">
              <a:alpha val="75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61872"/>
            <a:ext cx="54864" cy="8229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53312"/>
            <a:ext cx="1024128" cy="237744"/>
          </a:xfrm>
          <a:prstGeom prst="rect">
            <a:avLst/>
          </a:prstGeom>
          <a:solidFill>
            <a:srgbClr val="2196F3">
              <a:alpha val="45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5331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6344" y="1700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COUNTROWS('GoodRead_Books')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206240" cy="822960"/>
          </a:xfrm>
          <a:prstGeom prst="rect">
            <a:avLst/>
          </a:prstGeom>
          <a:solidFill>
            <a:srgbClr val="1B4F8A">
              <a:alpha val="75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54864" cy="8229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Authors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1353312"/>
            <a:ext cx="1024128" cy="237744"/>
          </a:xfrm>
          <a:prstGeom prst="rect">
            <a:avLst/>
          </a:prstGeom>
          <a:solidFill>
            <a:srgbClr val="2196F3">
              <a:alpha val="45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35331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01184" y="1700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DISTINCTCOUNT([author_detail])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4206240" cy="822960"/>
          </a:xfrm>
          <a:prstGeom prst="rect">
            <a:avLst/>
          </a:prstGeom>
          <a:solidFill>
            <a:srgbClr val="1B4F8A">
              <a:alpha val="75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94560"/>
            <a:ext cx="54864" cy="8229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2286000"/>
            <a:ext cx="1024128" cy="237744"/>
          </a:xfrm>
          <a:prstGeom prst="rect">
            <a:avLst/>
          </a:prstGeom>
          <a:solidFill>
            <a:srgbClr val="2196F3">
              <a:alpha val="45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2860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SUM([page])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206240" cy="822960"/>
          </a:xfrm>
          <a:prstGeom prst="rect">
            <a:avLst/>
          </a:prstGeom>
          <a:solidFill>
            <a:srgbClr val="1B4F8A">
              <a:alpha val="75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194560"/>
            <a:ext cx="54864" cy="8229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Genres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18120" y="2286000"/>
            <a:ext cx="1024128" cy="237744"/>
          </a:xfrm>
          <a:prstGeom prst="rect">
            <a:avLst/>
          </a:prstGeom>
          <a:solidFill>
            <a:srgbClr val="2196F3">
              <a:alpha val="45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22860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01184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DISTINCTCOUNT([genre])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127248"/>
            <a:ext cx="4206240" cy="822960"/>
          </a:xfrm>
          <a:prstGeom prst="rect">
            <a:avLst/>
          </a:prstGeom>
          <a:solidFill>
            <a:srgbClr val="1B4F8A">
              <a:alpha val="75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127248"/>
            <a:ext cx="54864" cy="8229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" y="3191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Month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3218688"/>
            <a:ext cx="1024128" cy="237744"/>
          </a:xfrm>
          <a:prstGeom prst="rect">
            <a:avLst/>
          </a:prstGeom>
          <a:solidFill>
            <a:srgbClr val="2196F3">
              <a:alpha val="45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2186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COUNT([month])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127248"/>
            <a:ext cx="4206240" cy="822960"/>
          </a:xfrm>
          <a:prstGeom prst="rect">
            <a:avLst/>
          </a:prstGeom>
          <a:solidFill>
            <a:srgbClr val="1B4F8A">
              <a:alpha val="75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127248"/>
            <a:ext cx="54864" cy="8229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191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Year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818120" y="3218688"/>
            <a:ext cx="1024128" cy="237744"/>
          </a:xfrm>
          <a:prstGeom prst="rect">
            <a:avLst/>
          </a:prstGeom>
          <a:solidFill>
            <a:srgbClr val="2196F3">
              <a:alpha val="45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32186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01184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COUNT([year])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059936"/>
            <a:ext cx="4206240" cy="822960"/>
          </a:xfrm>
          <a:prstGeom prst="rect">
            <a:avLst/>
          </a:prstGeom>
          <a:solidFill>
            <a:srgbClr val="1B4F8A">
              <a:alpha val="75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059936"/>
            <a:ext cx="54864" cy="8229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" y="4123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No.of Ratings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383280" y="4151376"/>
            <a:ext cx="1024128" cy="237744"/>
          </a:xfrm>
          <a:prstGeom prst="rect">
            <a:avLst/>
          </a:prstGeom>
          <a:solidFill>
            <a:srgbClr val="2196F3">
              <a:alpha val="45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41513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6344" y="4498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COUNT([No.of ratings])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4059936"/>
            <a:ext cx="4206240" cy="822960"/>
          </a:xfrm>
          <a:prstGeom prst="rect">
            <a:avLst/>
          </a:prstGeom>
          <a:solidFill>
            <a:srgbClr val="1B4F8A">
              <a:alpha val="75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4059936"/>
            <a:ext cx="54864" cy="8229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01184" y="4123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No.of Reviews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818120" y="4151376"/>
            <a:ext cx="1024128" cy="237744"/>
          </a:xfrm>
          <a:prstGeom prst="rect">
            <a:avLst/>
          </a:prstGeom>
          <a:solidFill>
            <a:srgbClr val="2196F3">
              <a:alpha val="45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8120" y="41513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01184" y="4498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COUNT([No.of reviews])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Power BI Dashboard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399032"/>
            <a:ext cx="8449056" cy="34198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interactive dashboard  •  Rating slider filter  •  Cross-filtering enabled across all visuals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 — Questions Answered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44752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with Most Books Written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93792" y="1481328"/>
            <a:ext cx="0" cy="4389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44475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Shakespeare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1517904"/>
            <a:ext cx="1216152" cy="347472"/>
          </a:xfrm>
          <a:prstGeom prst="rect">
            <a:avLst/>
          </a:prstGeom>
          <a:solidFill>
            <a:srgbClr val="2196F3">
              <a:alpha val="85000"/>
            </a:srgbClr>
          </a:solidFill>
          <a:ln w="12700">
            <a:solidFill>
              <a:srgbClr val="2196F3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0" y="1517904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Books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112264"/>
            <a:ext cx="8503920" cy="621792"/>
          </a:xfrm>
          <a:prstGeom prst="rect">
            <a:avLst/>
          </a:prstGeom>
          <a:solidFill>
            <a:srgbClr val="E8F1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370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167128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with Most Pages Written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93792" y="2203704"/>
            <a:ext cx="0" cy="4389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03520" y="21671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T. Reynolds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498080" y="2240280"/>
            <a:ext cx="1216152" cy="347472"/>
          </a:xfrm>
          <a:prstGeom prst="rect">
            <a:avLst/>
          </a:prstGeom>
          <a:solidFill>
            <a:srgbClr val="2196F3">
              <a:alpha val="85000"/>
            </a:srgbClr>
          </a:solidFill>
          <a:ln w="12700">
            <a:solidFill>
              <a:srgbClr val="2196F3">
                <a:alpha val="7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98080" y="224028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Pages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" y="283464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2889504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with Max Ratings &amp; Reviews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193792" y="2926080"/>
            <a:ext cx="0" cy="4389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03520" y="28895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Shakespeare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498080" y="2962656"/>
            <a:ext cx="1216152" cy="347472"/>
          </a:xfrm>
          <a:prstGeom prst="rect">
            <a:avLst/>
          </a:prstGeom>
          <a:solidFill>
            <a:srgbClr val="2196F3">
              <a:alpha val="85000"/>
            </a:srgbClr>
          </a:solidFill>
          <a:ln w="12700">
            <a:solidFill>
              <a:srgbClr val="2196F3">
                <a:alpha val="7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98080" y="2962656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Both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20040" y="3557016"/>
            <a:ext cx="8503920" cy="621792"/>
          </a:xfrm>
          <a:prstGeom prst="rect">
            <a:avLst/>
          </a:prstGeom>
          <a:solidFill>
            <a:srgbClr val="E8F1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4845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0120" y="361188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with Most Books Published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193792" y="3648456"/>
            <a:ext cx="0" cy="4389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03520" y="361188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7498080" y="3685032"/>
            <a:ext cx="1216152" cy="347472"/>
          </a:xfrm>
          <a:prstGeom prst="rect">
            <a:avLst/>
          </a:prstGeom>
          <a:solidFill>
            <a:srgbClr val="2196F3">
              <a:alpha val="85000"/>
            </a:srgbClr>
          </a:solidFill>
          <a:ln w="12700">
            <a:solidFill>
              <a:srgbClr val="2196F3">
                <a:alpha val="7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98080" y="368503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~48,000 Books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0040" y="427939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70832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0120" y="4334256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with Most Books Published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193792" y="4370832"/>
            <a:ext cx="0" cy="4389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303520" y="43342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7498080" y="4407408"/>
            <a:ext cx="1216152" cy="347472"/>
          </a:xfrm>
          <a:prstGeom prst="rect">
            <a:avLst/>
          </a:prstGeom>
          <a:solidFill>
            <a:srgbClr val="2196F3">
              <a:alpha val="85000"/>
            </a:srgbClr>
          </a:solidFill>
          <a:ln w="12700">
            <a:solidFill>
              <a:srgbClr val="2196F3">
                <a:alpha val="70000"/>
              </a:srgbClr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498080" y="440740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~5,100 Books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Authors by Books Written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8872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234440"/>
            <a:ext cx="2834640" cy="109728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89320" y="12344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3075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126480" y="18013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by Shakespeare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 prolific author)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2514600"/>
            <a:ext cx="2834640" cy="109728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89320" y="251460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5877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126480" y="30815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by Stephen 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modern author)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89320" y="3794760"/>
            <a:ext cx="2834640" cy="109728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89320" y="379476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86791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~40K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126480" y="4361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unique authors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TRENDS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Were Books Published?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Publication Years (2002–2006)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737360"/>
          <a:ext cx="4160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09160" y="1389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Publication Months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63440" y="1737360"/>
          <a:ext cx="4160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ENGAGEMENT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 by Top Authors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234440"/>
          <a:ext cx="57607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298448"/>
            <a:ext cx="2514600" cy="160020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630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Engaged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46520" y="1920240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Shakespeare leads in both ratings and reviews across all authors.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09360" y="3108960"/>
            <a:ext cx="2514600" cy="160020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273552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0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vs Ratings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46520" y="3730752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review-to-rating ratio signals an actively commenting reader community.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20624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4447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463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 Dominates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8928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titles + leads both ratings and reviews. Driven by the large number of editions and collections cataloged on GoodReads.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1732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44475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463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T. Reynolds — Volume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18928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73.7% of total pages among top authors — reflecting extremely high-volume long-form output.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320040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200400"/>
            <a:ext cx="420624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22783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3246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Publishing Spike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3675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~48K books in January — nearly 10x any other month. Likely reflects books with unknown month defaulting to Jan 1.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20040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200400"/>
            <a:ext cx="420624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2783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3246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Trend 2002–2006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3675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year-over-year growth from 3,800 in 2002 to 5,100 in 2006, reflecting expanding GoodReads cataloging.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280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20040" y="2011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Books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60520" y="548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17957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11521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89,340 books from GoodReads CSV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81965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3440" y="17922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Query: 6 transformation steps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459736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3440" y="24323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DAX measures created from scratch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09981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63440" y="3072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dashboard visuals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739896"/>
            <a:ext cx="310896" cy="31089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663440" y="37124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KPIs fully answered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4379976"/>
            <a:ext cx="310896" cy="31089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663440" y="43525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Microsoft Power BI Desktop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F3">
              <a:alpha val="30000"/>
            </a:srgbClr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|  Power BI  |  DAX  |  Power Query  |  GoodReads Dataset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GoodReads Books — Power BI Project</dc:title>
  <dc:subject>PptxGenJS Presentation</dc:subject>
  <dc:creator>PptxGenJS</dc:creator>
  <cp:lastModifiedBy>PptxGenJS</cp:lastModifiedBy>
  <cp:revision>1</cp:revision>
  <dcterms:created xsi:type="dcterms:W3CDTF">2026-05-07T08:56:28Z</dcterms:created>
  <dcterms:modified xsi:type="dcterms:W3CDTF">2026-05-07T08:56:28Z</dcterms:modified>
</cp:coreProperties>
</file>